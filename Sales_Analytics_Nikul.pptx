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B894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0B894"/>
                </a:solidFill>
                <a:latin typeface="Arial"/>
              </a:rPr>
              <a:t>Category Revenue Snapshot (₹M)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00B89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2AE-4DC2-AF18-03F0594BF594}"/>
              </c:ext>
            </c:extLst>
          </c:dPt>
          <c:dPt>
            <c:idx val="1"/>
            <c:invertIfNegative val="0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AE-4DC2-AF18-03F0594BF594}"/>
              </c:ext>
            </c:extLst>
          </c:dPt>
          <c:dPt>
            <c:idx val="2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2AE-4DC2-AF18-03F0594BF594}"/>
              </c:ext>
            </c:extLst>
          </c:dPt>
          <c:dPt>
            <c:idx val="3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2AE-4DC2-AF18-03F0594BF594}"/>
              </c:ext>
            </c:extLst>
          </c:dPt>
          <c:dPt>
            <c:idx val="4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2AE-4DC2-AF18-03F0594BF594}"/>
              </c:ext>
            </c:extLst>
          </c:dPt>
          <c:dPt>
            <c:idx val="5"/>
            <c:invertIfNegative val="0"/>
            <c:bubble3D val="0"/>
            <c:spPr>
              <a:solidFill>
                <a:srgbClr val="84CC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2AE-4DC2-AF18-03F0594BF594}"/>
              </c:ext>
            </c:extLst>
          </c:dPt>
          <c:dPt>
            <c:idx val="6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2AE-4DC2-AF18-03F0594BF59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Set</c:v>
                </c:pt>
                <c:pt idx="1">
                  <c:v>Kurta</c:v>
                </c:pt>
                <c:pt idx="2">
                  <c:v>Western Dress</c:v>
                </c:pt>
                <c:pt idx="3">
                  <c:v>Top</c:v>
                </c:pt>
                <c:pt idx="4">
                  <c:v>Ethnic Dress</c:v>
                </c:pt>
                <c:pt idx="5">
                  <c:v>Blouse</c:v>
                </c:pt>
                <c:pt idx="6">
                  <c:v>Bottom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6.2</c:v>
                </c:pt>
                <c:pt idx="2">
                  <c:v>4.8</c:v>
                </c:pt>
                <c:pt idx="3">
                  <c:v>3.5</c:v>
                </c:pt>
                <c:pt idx="4">
                  <c:v>0.9</c:v>
                </c:pt>
                <c:pt idx="5">
                  <c:v>0.5</c:v>
                </c:pt>
                <c:pt idx="6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2AE-4DC2-AF18-03F0594BF5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CE2D0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ECE2D0"/>
                </a:solidFill>
                <a:latin typeface="Arial"/>
              </a:rPr>
              <a:t>Intl Revenue Trend 2000–2022 (₹M)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Intl Revenue</c:v>
                </c:pt>
              </c:strCache>
            </c:strRef>
          </c:tx>
          <c:spPr>
            <a:ln w="38100" cap="flat">
              <a:solidFill>
                <a:srgbClr val="8B22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2252"/>
              </a:solidFill>
              <a:ln w="9525" cap="flat">
                <a:solidFill>
                  <a:srgbClr val="8B2252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2003</c:v>
                </c:pt>
                <c:pt idx="2">
                  <c:v>2006</c:v>
                </c:pt>
                <c:pt idx="3">
                  <c:v>2009</c:v>
                </c:pt>
                <c:pt idx="4">
                  <c:v>2012</c:v>
                </c:pt>
                <c:pt idx="5">
                  <c:v>2015</c:v>
                </c:pt>
                <c:pt idx="6">
                  <c:v>2018</c:v>
                </c:pt>
                <c:pt idx="7">
                  <c:v>2020</c:v>
                </c:pt>
                <c:pt idx="8">
                  <c:v>2022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0.05</c:v>
                </c:pt>
                <c:pt idx="1">
                  <c:v>0.08</c:v>
                </c:pt>
                <c:pt idx="2">
                  <c:v>0.12</c:v>
                </c:pt>
                <c:pt idx="3">
                  <c:v>0.2</c:v>
                </c:pt>
                <c:pt idx="4">
                  <c:v>0.38</c:v>
                </c:pt>
                <c:pt idx="5">
                  <c:v>0.62</c:v>
                </c:pt>
                <c:pt idx="6">
                  <c:v>0.9</c:v>
                </c:pt>
                <c:pt idx="7">
                  <c:v>1</c:v>
                </c:pt>
                <c:pt idx="8">
                  <c:v>0.68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7C6-46FF-BAEF-75C3C74938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A19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3A10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734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8686800" cy="9144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2560320"/>
            <a:ext cx="347472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274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2021 –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0" y="914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69680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SQL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Excel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0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400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4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411480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632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business intelligence case study covering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markets, Amazon operations, P&amp;L, and inventory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leading Indian garment export brand.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4617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651760" y="5166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4617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0" y="5166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Yrs of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617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92240" y="5166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080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https://github.com/Nikul14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6858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E2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3400" dirty="0"/>
          </a:p>
          <a:p>
            <a:pPr marL="0" indent="0">
              <a:buNone/>
            </a:pPr>
            <a:r>
              <a:rPr lang="en-US" sz="3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" y="3063240"/>
            <a:ext cx="320040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931920"/>
            <a:ext cx="3383280" cy="566928"/>
          </a:xfrm>
          <a:prstGeom prst="rect">
            <a:avLst/>
          </a:prstGeom>
          <a:solidFill>
            <a:srgbClr val="1E2F44"/>
          </a:solidFill>
          <a:ln w="12700">
            <a:solidFill>
              <a:srgbClr val="00B89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3931920"/>
            <a:ext cx="45720" cy="566928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39684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₹15.74M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40416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4617720"/>
            <a:ext cx="3383280" cy="566928"/>
          </a:xfrm>
          <a:prstGeom prst="rect">
            <a:avLst/>
          </a:prstGeom>
          <a:solidFill>
            <a:srgbClr val="1E2F44"/>
          </a:solidFill>
          <a:ln w="12700">
            <a:solidFill>
              <a:srgbClr val="F0A5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4617720"/>
            <a:ext cx="45720" cy="5669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46542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25.42K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4727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5303520"/>
            <a:ext cx="3383280" cy="566928"/>
          </a:xfrm>
          <a:prstGeom prst="rect">
            <a:avLst/>
          </a:prstGeom>
          <a:solidFill>
            <a:srgbClr val="1E2F44"/>
          </a:solidFill>
          <a:ln w="12700">
            <a:solidFill>
              <a:srgbClr val="3498D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5303520"/>
            <a:ext cx="45720" cy="5669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53400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5413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5989320"/>
            <a:ext cx="3383280" cy="566928"/>
          </a:xfrm>
          <a:prstGeom prst="rect">
            <a:avLst/>
          </a:prstGeom>
          <a:solidFill>
            <a:srgbClr val="1E2F44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5989320"/>
            <a:ext cx="45720" cy="5669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60258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28800" y="6099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6052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6052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answer with data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0" y="1417320"/>
            <a:ext cx="7863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0" y="1417320"/>
            <a:ext cx="54864" cy="71323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41280" y="1554480"/>
            <a:ext cx="155448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0" y="1554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0" y="1545336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Which product category drives the most Amazon revenue?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2258568"/>
            <a:ext cx="7863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0" y="2258568"/>
            <a:ext cx="54864" cy="7132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41280" y="2395728"/>
            <a:ext cx="155448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0" y="23957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97680" y="2386584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What is the Amazon FBA vs Merchant (FBM) revenue split?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14800" y="3099816"/>
            <a:ext cx="7863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0" y="3099816"/>
            <a:ext cx="54864" cy="71323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41280" y="3236976"/>
            <a:ext cx="155448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0" y="32369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97680" y="3227832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How has revenue trended over time (2004–2006)?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0" y="3941064"/>
            <a:ext cx="7863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114800" y="3941064"/>
            <a:ext cx="54864" cy="7132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41280" y="4078224"/>
            <a:ext cx="155448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41280" y="40782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Insight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97680" y="4069080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What is the average order value across categories?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114800" y="4782312"/>
            <a:ext cx="7863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114800" y="4782312"/>
            <a:ext cx="54864" cy="71323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9" name="Shape 47"/>
          <p:cNvSpPr/>
          <p:nvPr/>
        </p:nvSpPr>
        <p:spPr>
          <a:xfrm>
            <a:off x="10241280" y="4919472"/>
            <a:ext cx="155448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41280" y="4919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KPI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97680" y="4910328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What is the overall cancellation rate?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114800" y="5623560"/>
            <a:ext cx="7863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114800" y="5623560"/>
            <a:ext cx="54864" cy="7132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0241280" y="5760720"/>
            <a:ext cx="1554480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41280" y="5760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Strategy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97680" y="5751576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Which fulfillment model yields higher order value?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0"/>
            <a:ext cx="12161520" cy="64008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137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E2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788920" cy="516636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894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2788920" cy="9144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2587752"/>
            <a:ext cx="182880" cy="1828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via GROUP BY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" y="3611880"/>
            <a:ext cx="182880" cy="1828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38728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vs Merchant filter with CASE WHEN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4636008"/>
            <a:ext cx="182880" cy="1828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562856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CTE + window LAG()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" y="5660136"/>
            <a:ext cx="182880" cy="1828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586984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rate: COUNT(cancelled)/COUNT(*)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1463040"/>
            <a:ext cx="2788920" cy="5166360"/>
          </a:xfrm>
          <a:prstGeom prst="rect">
            <a:avLst/>
          </a:prstGeom>
          <a:solidFill>
            <a:srgbClr val="162032"/>
          </a:solidFill>
          <a:ln w="19050">
            <a:solidFill>
              <a:srgbClr val="F0A5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1463040"/>
            <a:ext cx="2788920" cy="9144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1508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01568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Transform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587752"/>
            <a:ext cx="182880" cy="1828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4" name="Text 22"/>
          <p:cNvSpPr/>
          <p:nvPr/>
        </p:nvSpPr>
        <p:spPr>
          <a:xfrm>
            <a:off x="3675888" y="2514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CSV orders, normalize columns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3611880"/>
            <a:ext cx="182880" cy="1828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3675888" y="3538728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category + fulfillment type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4636008"/>
            <a:ext cx="182880" cy="1828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8" name="Text 26"/>
          <p:cNvSpPr/>
          <p:nvPr/>
        </p:nvSpPr>
        <p:spPr>
          <a:xfrm>
            <a:off x="3675888" y="4562856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daily→monthly for trend line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5660136"/>
            <a:ext cx="182880" cy="1828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3675888" y="5586984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in order_value with IQR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08776" y="1463040"/>
            <a:ext cx="2788920" cy="5166360"/>
          </a:xfrm>
          <a:prstGeom prst="rect">
            <a:avLst/>
          </a:prstGeom>
          <a:solidFill>
            <a:srgbClr val="162032"/>
          </a:solidFill>
          <a:ln w="1905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08776" y="1463040"/>
            <a:ext cx="278892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345936" y="1508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45936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73368" y="2587752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620256" y="2514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 by category across 25K rows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73368" y="361188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620256" y="3538728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PivotTable: category × fulfillment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73368" y="4636008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620256" y="4562856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format: KPI red/amber/green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73368" y="5660136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620256" y="5586984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FORECAST.ETS for next-quarter revenue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53144" y="1463040"/>
            <a:ext cx="2788920" cy="5166360"/>
          </a:xfrm>
          <a:prstGeom prst="rect">
            <a:avLst/>
          </a:prstGeom>
          <a:solidFill>
            <a:srgbClr val="162032"/>
          </a:solidFill>
          <a:ln w="1905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153144" y="1463040"/>
            <a:ext cx="2788920" cy="9144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5" name="Text 43"/>
          <p:cNvSpPr/>
          <p:nvPr/>
        </p:nvSpPr>
        <p:spPr>
          <a:xfrm>
            <a:off x="9290304" y="1508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290304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317736" y="2587752"/>
            <a:ext cx="182880" cy="1828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8" name="Text 46"/>
          <p:cNvSpPr/>
          <p:nvPr/>
        </p:nvSpPr>
        <p:spPr>
          <a:xfrm>
            <a:off x="9564624" y="2514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Star-schema: Orders → Products → Date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317736" y="3611880"/>
            <a:ext cx="182880" cy="1828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0" name="Text 48"/>
          <p:cNvSpPr/>
          <p:nvPr/>
        </p:nvSpPr>
        <p:spPr>
          <a:xfrm>
            <a:off x="9564624" y="3538728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DAX: TotalRev, AvgOrderVal, Cancel%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317736" y="4636008"/>
            <a:ext cx="182880" cy="1828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2" name="Text 50"/>
          <p:cNvSpPr/>
          <p:nvPr/>
        </p:nvSpPr>
        <p:spPr>
          <a:xfrm>
            <a:off x="9564624" y="4562856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Donut: Amazon 69% vs Merchant 31%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317736" y="5660136"/>
            <a:ext cx="182880" cy="1828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4" name="Text 52"/>
          <p:cNvSpPr/>
          <p:nvPr/>
        </p:nvSpPr>
        <p:spPr>
          <a:xfrm>
            <a:off x="9564624" y="5586984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top categories + date slicer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09474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·  'Set' category = ₹8M (51% of Amazon revenue) · Amazon FBA accounts for 69% · Avg order ₹619 · Only 0.14% cancellations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41480" cy="1051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 &amp; Visual Walkthrough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1E2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7132320" cy="4206240"/>
          </a:xfrm>
          <a:prstGeom prst="rect">
            <a:avLst/>
          </a:prstGeom>
          <a:solidFill>
            <a:srgbClr val="1A1A2E"/>
          </a:solidFill>
          <a:ln w="25400">
            <a:solidFill>
              <a:srgbClr val="00B894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34440"/>
            <a:ext cx="704088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18872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0" y="1188720"/>
            <a:ext cx="64008" cy="7315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0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KPIs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₹15.74M total · 25K orders · 23K units at glance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0" y="2029968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0" y="2029968"/>
            <a:ext cx="64008" cy="7315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5" name="Text 12"/>
          <p:cNvSpPr/>
          <p:nvPr/>
        </p:nvSpPr>
        <p:spPr>
          <a:xfrm>
            <a:off x="7955280" y="2093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Bar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categories ranked; Set leads with ₹8M revenue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0" y="2871216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0" y="2871216"/>
            <a:ext cx="64008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2935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FBA vs Merchant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55280" y="3236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Donut: 69% Amazon FBA · 31% Merchant split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72400" y="3712464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0" y="3712464"/>
            <a:ext cx="64008" cy="7315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3" name="Text 20"/>
          <p:cNvSpPr/>
          <p:nvPr/>
        </p:nvSpPr>
        <p:spPr>
          <a:xfrm>
            <a:off x="7955280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Timeline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955280" y="40782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2004–2006 with interactive date slicer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772400" y="4553712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772400" y="4553712"/>
            <a:ext cx="64008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Text 24"/>
          <p:cNvSpPr/>
          <p:nvPr/>
        </p:nvSpPr>
        <p:spPr>
          <a:xfrm>
            <a:off x="7955280" y="4617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Cancellation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0" y="4919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0.14% cancellation rate KPI card with alert logic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0040" y="5577840"/>
            <a:ext cx="11841480" cy="1143000"/>
          </a:xfrm>
          <a:prstGeom prst="rect">
            <a:avLst/>
          </a:prstGeom>
          <a:solidFill>
            <a:srgbClr val="1A1A2E"/>
          </a:solidFill>
          <a:ln/>
        </p:spPr>
      </p:sp>
      <p:graphicFrame>
        <p:nvGraphicFramePr>
          <p:cNvPr id="30" name="Chart 0"/>
          <p:cNvGraphicFramePr/>
          <p:nvPr/>
        </p:nvGraphicFramePr>
        <p:xfrm>
          <a:off x="457200" y="5623560"/>
          <a:ext cx="1152144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40480" cy="6858000"/>
          </a:xfrm>
          <a:prstGeom prst="rect">
            <a:avLst/>
          </a:prstGeom>
          <a:solidFill>
            <a:srgbClr val="4A1942"/>
          </a:solidFill>
          <a:ln/>
        </p:spPr>
      </p:sp>
      <p:sp>
        <p:nvSpPr>
          <p:cNvPr id="3" name="Shape 1"/>
          <p:cNvSpPr/>
          <p:nvPr/>
        </p:nvSpPr>
        <p:spPr>
          <a:xfrm>
            <a:off x="8266176" y="0"/>
            <a:ext cx="64008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0" y="137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A1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412480" y="1005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0" y="2834640"/>
            <a:ext cx="292608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0" y="3474720"/>
            <a:ext cx="3291840" cy="658368"/>
          </a:xfrm>
          <a:prstGeom prst="rect">
            <a:avLst/>
          </a:prstGeom>
          <a:solidFill>
            <a:srgbClr val="3A1032"/>
          </a:solidFill>
          <a:ln w="12700">
            <a:solidFill>
              <a:srgbClr val="D4A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03920" y="3474720"/>
            <a:ext cx="54864" cy="658368"/>
          </a:xfrm>
          <a:prstGeom prst="rect">
            <a:avLst/>
          </a:prstGeom>
          <a:solidFill>
            <a:srgbClr val="D4A5C0"/>
          </a:solidFill>
          <a:ln/>
        </p:spPr>
      </p:sp>
      <p:sp>
        <p:nvSpPr>
          <p:cNvPr id="11" name="Text 9"/>
          <p:cNvSpPr/>
          <p:nvPr/>
        </p:nvSpPr>
        <p:spPr>
          <a:xfrm>
            <a:off x="8641080" y="35295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820.10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0" y="36393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Intl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03920" y="4251960"/>
            <a:ext cx="3291840" cy="658368"/>
          </a:xfrm>
          <a:prstGeom prst="rect">
            <a:avLst/>
          </a:prstGeom>
          <a:solidFill>
            <a:srgbClr val="3A1032"/>
          </a:solidFill>
          <a:ln w="12700">
            <a:solidFill>
              <a:srgbClr val="F8C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4251960"/>
            <a:ext cx="54864" cy="658368"/>
          </a:xfrm>
          <a:prstGeom prst="rect">
            <a:avLst/>
          </a:prstGeom>
          <a:solidFill>
            <a:srgbClr val="F8C8DC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430682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0" y="44165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Customers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3920" y="5029200"/>
            <a:ext cx="3291840" cy="658368"/>
          </a:xfrm>
          <a:prstGeom prst="rect">
            <a:avLst/>
          </a:prstGeom>
          <a:solidFill>
            <a:srgbClr val="3A1032"/>
          </a:solidFill>
          <a:ln w="12700">
            <a:solidFill>
              <a:srgbClr val="D4A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5029200"/>
            <a:ext cx="54864" cy="658368"/>
          </a:xfrm>
          <a:prstGeom prst="rect">
            <a:avLst/>
          </a:prstGeom>
          <a:solidFill>
            <a:srgbClr val="D4A5C0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508406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0" y="5193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Sold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5806440"/>
            <a:ext cx="3291840" cy="658368"/>
          </a:xfrm>
          <a:prstGeom prst="rect">
            <a:avLst/>
          </a:prstGeom>
          <a:solidFill>
            <a:srgbClr val="3A1032"/>
          </a:solidFill>
          <a:ln w="12700">
            <a:solidFill>
              <a:srgbClr val="F8C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03920" y="5806440"/>
            <a:ext cx="54864" cy="658368"/>
          </a:xfrm>
          <a:prstGeom prst="rect">
            <a:avLst/>
          </a:prstGeom>
          <a:solidFill>
            <a:srgbClr val="F8C8DC"/>
          </a:solidFill>
          <a:ln/>
        </p:spPr>
      </p:sp>
      <p:sp>
        <p:nvSpPr>
          <p:cNvPr id="23" name="Text 21"/>
          <p:cNvSpPr/>
          <p:nvPr/>
        </p:nvSpPr>
        <p:spPr>
          <a:xfrm>
            <a:off x="8641080" y="586130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₹3.26M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0" y="5971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Revenue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274320" y="868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274320" y="1463040"/>
            <a:ext cx="411480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1600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74320" y="2103120"/>
            <a:ext cx="7818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103120"/>
            <a:ext cx="54864" cy="749808"/>
          </a:xfrm>
          <a:prstGeom prst="rect">
            <a:avLst/>
          </a:prstGeom>
          <a:solidFill>
            <a:srgbClr val="8B225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223113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style/SKU code generates the highest international revenue?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2971800"/>
            <a:ext cx="7818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971800"/>
            <a:ext cx="54864" cy="7498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154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309981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 international buyers by revenue contribution?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3840480"/>
            <a:ext cx="7818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840480"/>
            <a:ext cx="54864" cy="749808"/>
          </a:xfrm>
          <a:prstGeom prst="rect">
            <a:avLst/>
          </a:prstGeom>
          <a:solidFill>
            <a:srgbClr val="8B2252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" y="39684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international revenue grown year-over-year (2000–2022)?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4709160"/>
            <a:ext cx="7818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4709160"/>
            <a:ext cx="54864" cy="7498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92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4400" y="483717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selling rate in global export markets?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5577840"/>
            <a:ext cx="7818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5577840"/>
            <a:ext cx="54864" cy="749808"/>
          </a:xfrm>
          <a:prstGeom prst="rect">
            <a:avLst/>
          </a:prstGeom>
          <a:solidFill>
            <a:srgbClr val="8B2252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5760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4400" y="570585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total pieces have been sold internationally?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225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41480" cy="1005840"/>
          </a:xfrm>
          <a:prstGeom prst="rect">
            <a:avLst/>
          </a:prstGeom>
          <a:solidFill>
            <a:srgbClr val="3A103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05840"/>
            <a:ext cx="11841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DASHBOARD · SOLUTION &amp;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881360" y="91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6766560" cy="3566160"/>
          </a:xfrm>
          <a:prstGeom prst="rect">
            <a:avLst/>
          </a:prstGeom>
          <a:solidFill>
            <a:srgbClr val="3A1032"/>
          </a:solidFill>
          <a:ln w="25400">
            <a:solidFill>
              <a:srgbClr val="8B2252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6675120" cy="3474720"/>
          </a:xfrm>
          <a:prstGeom prst="rect">
            <a:avLst/>
          </a:prstGeom>
        </p:spPr>
      </p:pic>
      <p:graphicFrame>
        <p:nvGraphicFramePr>
          <p:cNvPr id="9" name="Chart 0"/>
          <p:cNvGraphicFramePr/>
          <p:nvPr/>
        </p:nvGraphicFramePr>
        <p:xfrm>
          <a:off x="365760" y="4846320"/>
          <a:ext cx="67665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7406640" y="1143000"/>
            <a:ext cx="4572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06640" y="1143000"/>
            <a:ext cx="64008" cy="1005840"/>
          </a:xfrm>
          <a:prstGeom prst="rect">
            <a:avLst/>
          </a:prstGeom>
          <a:solidFill>
            <a:srgbClr val="8B2252"/>
          </a:solidFill>
          <a:ln/>
        </p:spPr>
      </p:sp>
      <p:sp>
        <p:nvSpPr>
          <p:cNvPr id="12" name="Text 8"/>
          <p:cNvSpPr/>
          <p:nvPr/>
        </p:nvSpPr>
        <p:spPr>
          <a:xfrm>
            <a:off x="7589520" y="12344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Revenue Donut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589520" y="1618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style codes (SET26B, J0277 etc.) broken down by revenue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406640" y="2276856"/>
            <a:ext cx="4572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0" y="2276856"/>
            <a:ext cx="64008" cy="10058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2"/>
          <p:cNvSpPr/>
          <p:nvPr/>
        </p:nvSpPr>
        <p:spPr>
          <a:xfrm>
            <a:off x="7589520" y="23682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 Bar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589520" y="27523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buyers ranked; Mulberries Boutique leads at ~₹0.4M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406640" y="3410712"/>
            <a:ext cx="4572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06640" y="3410712"/>
            <a:ext cx="64008" cy="10058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0" name="Text 16"/>
          <p:cNvSpPr/>
          <p:nvPr/>
        </p:nvSpPr>
        <p:spPr>
          <a:xfrm>
            <a:off x="7589520" y="35021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20-Year Trend Line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589520" y="3886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2000–2022, peak 2015–2020, recent dip visible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406640" y="4544568"/>
            <a:ext cx="4572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406640" y="4544568"/>
            <a:ext cx="64008" cy="10058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4" name="Text 20"/>
          <p:cNvSpPr/>
          <p:nvPr/>
        </p:nvSpPr>
        <p:spPr>
          <a:xfrm>
            <a:off x="7589520" y="46360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Filter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589520" y="50200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monthly drilldown with 'Enter months' parameter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406640" y="5678424"/>
            <a:ext cx="4572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406640" y="5678424"/>
            <a:ext cx="64008" cy="1005840"/>
          </a:xfrm>
          <a:prstGeom prst="rect">
            <a:avLst/>
          </a:prstGeom>
          <a:solidFill>
            <a:srgbClr val="8B2252"/>
          </a:solidFill>
          <a:ln/>
        </p:spPr>
      </p:sp>
      <p:sp>
        <p:nvSpPr>
          <p:cNvPr id="28" name="Text 24"/>
          <p:cNvSpPr/>
          <p:nvPr/>
        </p:nvSpPr>
        <p:spPr>
          <a:xfrm>
            <a:off x="7589520" y="576986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&amp; Volume KPIs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589520" y="6153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rate 820 · 3M pieces sold · 146 unique export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6152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2021 · Business Questions &amp; Solution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4A1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5303520" cy="3383280"/>
          </a:xfrm>
          <a:prstGeom prst="rect">
            <a:avLst/>
          </a:prstGeom>
          <a:solidFill>
            <a:srgbClr val="0A0A0A"/>
          </a:solidFill>
          <a:ln w="25400">
            <a:solidFill>
              <a:srgbClr val="F39C12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0"/>
            <a:ext cx="5212080" cy="3291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846320"/>
            <a:ext cx="1664208" cy="914400"/>
          </a:xfrm>
          <a:prstGeom prst="rect">
            <a:avLst/>
          </a:prstGeom>
          <a:solidFill>
            <a:srgbClr val="162032"/>
          </a:solidFill>
          <a:ln w="19050">
            <a:solidFill>
              <a:srgbClr val="F39C1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" y="491947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74320" y="53766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Total SKUs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75688" y="4846320"/>
            <a:ext cx="1664208" cy="914400"/>
          </a:xfrm>
          <a:prstGeom prst="rect">
            <a:avLst/>
          </a:prstGeom>
          <a:solidFill>
            <a:srgbClr val="162032"/>
          </a:solidFill>
          <a:ln w="19050">
            <a:solidFill>
              <a:srgbClr val="F0A5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075688" y="491947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₹2.17K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075688" y="53766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Final MRP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77056" y="4846320"/>
            <a:ext cx="1664208" cy="914400"/>
          </a:xfrm>
          <a:prstGeom prst="rect">
            <a:avLst/>
          </a:prstGeom>
          <a:solidFill>
            <a:srgbClr val="162032"/>
          </a:solidFill>
          <a:ln w="1905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877056" y="491947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877056" y="53766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0" y="132588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APPROACH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943600" y="1874520"/>
            <a:ext cx="5943600" cy="1078992"/>
          </a:xfrm>
          <a:prstGeom prst="rect">
            <a:avLst/>
          </a:prstGeom>
          <a:solidFill>
            <a:srgbClr val="1E2F44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0" y="1874520"/>
            <a:ext cx="64008" cy="10789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193852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Which category has highest avg final MRP?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26480" y="2350008"/>
            <a:ext cx="5577840" cy="5486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3" name="Text 20"/>
          <p:cNvSpPr/>
          <p:nvPr/>
        </p:nvSpPr>
        <p:spPr>
          <a:xfrm>
            <a:off x="6126480" y="244144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SQL: AVG(final_mrp) GROUP BY category → Gown ₹3,200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43600" y="3063240"/>
            <a:ext cx="5943600" cy="1078992"/>
          </a:xfrm>
          <a:prstGeom prst="rect">
            <a:avLst/>
          </a:prstGeom>
          <a:solidFill>
            <a:srgbClr val="1E2F44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43600" y="3063240"/>
            <a:ext cx="64008" cy="107899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3"/>
          <p:cNvSpPr/>
          <p:nvPr/>
        </p:nvSpPr>
        <p:spPr>
          <a:xfrm>
            <a:off x="6126480" y="312724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TP vs Final MRP relationship?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26480" y="3538728"/>
            <a:ext cx="5577840" cy="5486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8" name="Text 25"/>
          <p:cNvSpPr/>
          <p:nvPr/>
        </p:nvSpPr>
        <p:spPr>
          <a:xfrm>
            <a:off x="6126480" y="363016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Pandas scatter: Kurta Set shows strongest linear correlation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943600" y="4251960"/>
            <a:ext cx="5943600" cy="1078992"/>
          </a:xfrm>
          <a:prstGeom prst="rect">
            <a:avLst/>
          </a:prstGeom>
          <a:solidFill>
            <a:srgbClr val="1E2F44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943600" y="4251960"/>
            <a:ext cx="64008" cy="10789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Text 28"/>
          <p:cNvSpPr/>
          <p:nvPr/>
        </p:nvSpPr>
        <p:spPr>
          <a:xfrm>
            <a:off x="6126480" y="43159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Total SKUs in 2021?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126480" y="4727448"/>
            <a:ext cx="5577840" cy="5486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481888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COUNT(DISTINCT sku) = 1,000 unique product codes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0" y="5440680"/>
            <a:ext cx="5943600" cy="1078992"/>
          </a:xfrm>
          <a:prstGeom prst="rect">
            <a:avLst/>
          </a:prstGeom>
          <a:solidFill>
            <a:srgbClr val="1E2F44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943600" y="5440680"/>
            <a:ext cx="64008" cy="107899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6" name="Text 33"/>
          <p:cNvSpPr/>
          <p:nvPr/>
        </p:nvSpPr>
        <p:spPr>
          <a:xfrm>
            <a:off x="6126480" y="55046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Platform revenue comparison?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126480" y="5916168"/>
            <a:ext cx="5577840" cy="5486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8" name="Text 35"/>
          <p:cNvSpPr/>
          <p:nvPr/>
        </p:nvSpPr>
        <p:spPr>
          <a:xfrm>
            <a:off x="6126480" y="600760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Power BI stacked bar: Myntra &gt; Paytm &gt; Snapdeal &gt; Limeroad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64008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6007608" y="0"/>
            <a:ext cx="615391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5943600" cy="9601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731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5303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7315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82880" y="1051560"/>
            <a:ext cx="5577840" cy="2926080"/>
          </a:xfrm>
          <a:prstGeom prst="rect">
            <a:avLst/>
          </a:prstGeom>
          <a:solidFill>
            <a:srgbClr val="0A0A0A"/>
          </a:solidFill>
          <a:ln w="1905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0"/>
            <a:ext cx="5486400" cy="2834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82880" y="4114800"/>
            <a:ext cx="1755648" cy="777240"/>
          </a:xfrm>
          <a:prstGeom prst="rect">
            <a:avLst/>
          </a:prstGeom>
          <a:solidFill>
            <a:srgbClr val="162032"/>
          </a:solidFill>
          <a:ln w="19050">
            <a:solidFill>
              <a:srgbClr val="9B59B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82880" y="417880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₹577.47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82880" y="45720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TP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075688" y="4114800"/>
            <a:ext cx="1755648" cy="777240"/>
          </a:xfrm>
          <a:prstGeom prst="rect">
            <a:avLst/>
          </a:prstGeom>
          <a:solidFill>
            <a:srgbClr val="162032"/>
          </a:solidFill>
          <a:ln w="19050">
            <a:solidFill>
              <a:srgbClr val="F0A5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075688" y="417880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₹2.17K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075688" y="45720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MRP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68496" y="4114800"/>
            <a:ext cx="1755648" cy="77724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89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968496" y="417880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968496" y="45720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Margin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82880" y="5074920"/>
            <a:ext cx="164592" cy="164592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502920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scatter: TP vs final_mrp bubble view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82880" y="5550408"/>
            <a:ext cx="164592" cy="164592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550468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breakdown: Flipkart · Myntra · Paytm · Snapdeal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82880" y="6025896"/>
            <a:ext cx="164592" cy="164592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598017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All-category dropdown filter with dynamic refresh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07608" y="0"/>
            <a:ext cx="6153912" cy="960120"/>
          </a:xfrm>
          <a:prstGeom prst="rect">
            <a:avLst/>
          </a:prstGeom>
          <a:solidFill>
            <a:srgbClr val="7C2D2D"/>
          </a:solidFill>
          <a:ln/>
        </p:spPr>
      </p:sp>
      <p:sp>
        <p:nvSpPr>
          <p:cNvPr id="27" name="Text 24"/>
          <p:cNvSpPr/>
          <p:nvPr/>
        </p:nvSpPr>
        <p:spPr>
          <a:xfrm>
            <a:off x="6217920" y="73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217920" y="5303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Stock Overview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789920" y="7315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4A1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4400" dirty="0"/>
          </a:p>
        </p:txBody>
      </p:sp>
      <p:sp>
        <p:nvSpPr>
          <p:cNvPr id="30" name="Shape 27"/>
          <p:cNvSpPr/>
          <p:nvPr/>
        </p:nvSpPr>
        <p:spPr>
          <a:xfrm>
            <a:off x="6172200" y="1051560"/>
            <a:ext cx="5806440" cy="2926080"/>
          </a:xfrm>
          <a:prstGeom prst="rect">
            <a:avLst/>
          </a:prstGeom>
          <a:solidFill>
            <a:srgbClr val="0A0A0A"/>
          </a:solidFill>
          <a:ln w="19050">
            <a:solidFill>
              <a:srgbClr val="E74C3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97280"/>
            <a:ext cx="5715000" cy="283464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217920" y="4114800"/>
            <a:ext cx="1828800" cy="777240"/>
          </a:xfrm>
          <a:prstGeom prst="rect">
            <a:avLst/>
          </a:prstGeom>
          <a:solidFill>
            <a:srgbClr val="162032"/>
          </a:solidFill>
          <a:ln w="1905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6217920" y="4178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621792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SKUs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229600" y="4114800"/>
            <a:ext cx="1828800" cy="777240"/>
          </a:xfrm>
          <a:prstGeom prst="rect">
            <a:avLst/>
          </a:prstGeom>
          <a:solidFill>
            <a:srgbClr val="162032"/>
          </a:solidFill>
          <a:ln w="19050">
            <a:solidFill>
              <a:srgbClr val="F39C1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8229600" y="4178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242K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82296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Stock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10241280" y="4114800"/>
            <a:ext cx="1828800" cy="777240"/>
          </a:xfrm>
          <a:prstGeom prst="rect">
            <a:avLst/>
          </a:prstGeom>
          <a:solidFill>
            <a:srgbClr val="162032"/>
          </a:solidFill>
          <a:ln w="19050">
            <a:solidFill>
              <a:srgbClr val="F0A5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10241280" y="4178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9K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1024128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SKUs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217920" y="5074920"/>
            <a:ext cx="164592" cy="16459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2" name="Text 38"/>
          <p:cNvSpPr/>
          <p:nvPr/>
        </p:nvSpPr>
        <p:spPr>
          <a:xfrm>
            <a:off x="6492240" y="5029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flagging: 534 SKUs with zero stock identified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6217920" y="5550408"/>
            <a:ext cx="164592" cy="16459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4" name="Text 40"/>
          <p:cNvSpPr/>
          <p:nvPr/>
        </p:nvSpPr>
        <p:spPr>
          <a:xfrm>
            <a:off x="6492240" y="550468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drill-down table with exact stock counts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6217920" y="6025896"/>
            <a:ext cx="164592" cy="16459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6" name="Text 42"/>
          <p:cNvSpPr/>
          <p:nvPr/>
        </p:nvSpPr>
        <p:spPr>
          <a:xfrm>
            <a:off x="6492240" y="59801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Top-15 SKUs by volume: JNE3405-KR-XXL leads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3" name="Shape 1"/>
          <p:cNvSpPr/>
          <p:nvPr/>
        </p:nvSpPr>
        <p:spPr>
          <a:xfrm>
            <a:off x="1600200" y="3657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4" name="Shape 2"/>
          <p:cNvSpPr/>
          <p:nvPr/>
        </p:nvSpPr>
        <p:spPr>
          <a:xfrm>
            <a:off x="2651760" y="3657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5" name="Shape 3"/>
          <p:cNvSpPr/>
          <p:nvPr/>
        </p:nvSpPr>
        <p:spPr>
          <a:xfrm>
            <a:off x="3703320" y="3657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3657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657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3657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9" name="Shape 7"/>
          <p:cNvSpPr/>
          <p:nvPr/>
        </p:nvSpPr>
        <p:spPr>
          <a:xfrm>
            <a:off x="7909560" y="3657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0" y="3657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12680" y="3657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64240" y="3657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46304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0200" y="146304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15" name="Shape 13"/>
          <p:cNvSpPr/>
          <p:nvPr/>
        </p:nvSpPr>
        <p:spPr>
          <a:xfrm>
            <a:off x="2651760" y="146304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16" name="Shape 14"/>
          <p:cNvSpPr/>
          <p:nvPr/>
        </p:nvSpPr>
        <p:spPr>
          <a:xfrm>
            <a:off x="3703320" y="146304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46304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18" name="Shape 16"/>
          <p:cNvSpPr/>
          <p:nvPr/>
        </p:nvSpPr>
        <p:spPr>
          <a:xfrm>
            <a:off x="5806440" y="146304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146304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20" name="Shape 18"/>
          <p:cNvSpPr/>
          <p:nvPr/>
        </p:nvSpPr>
        <p:spPr>
          <a:xfrm>
            <a:off x="7909560" y="146304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1120" y="146304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12680" y="146304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64240" y="146304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56032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25" name="Shape 23"/>
          <p:cNvSpPr/>
          <p:nvPr/>
        </p:nvSpPr>
        <p:spPr>
          <a:xfrm>
            <a:off x="1600200" y="256032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26" name="Shape 24"/>
          <p:cNvSpPr/>
          <p:nvPr/>
        </p:nvSpPr>
        <p:spPr>
          <a:xfrm>
            <a:off x="2651760" y="256032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27" name="Shape 25"/>
          <p:cNvSpPr/>
          <p:nvPr/>
        </p:nvSpPr>
        <p:spPr>
          <a:xfrm>
            <a:off x="3703320" y="256032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256032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29" name="Shape 27"/>
          <p:cNvSpPr/>
          <p:nvPr/>
        </p:nvSpPr>
        <p:spPr>
          <a:xfrm>
            <a:off x="5806440" y="256032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0" y="256032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31" name="Shape 29"/>
          <p:cNvSpPr/>
          <p:nvPr/>
        </p:nvSpPr>
        <p:spPr>
          <a:xfrm>
            <a:off x="7909560" y="256032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32" name="Shape 30"/>
          <p:cNvSpPr/>
          <p:nvPr/>
        </p:nvSpPr>
        <p:spPr>
          <a:xfrm>
            <a:off x="8961120" y="256032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12680" y="256032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34" name="Shape 32"/>
          <p:cNvSpPr/>
          <p:nvPr/>
        </p:nvSpPr>
        <p:spPr>
          <a:xfrm>
            <a:off x="11064240" y="256032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65760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36" name="Shape 34"/>
          <p:cNvSpPr/>
          <p:nvPr/>
        </p:nvSpPr>
        <p:spPr>
          <a:xfrm>
            <a:off x="1600200" y="365760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37" name="Shape 35"/>
          <p:cNvSpPr/>
          <p:nvPr/>
        </p:nvSpPr>
        <p:spPr>
          <a:xfrm>
            <a:off x="2651760" y="365760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38" name="Shape 36"/>
          <p:cNvSpPr/>
          <p:nvPr/>
        </p:nvSpPr>
        <p:spPr>
          <a:xfrm>
            <a:off x="3703320" y="365760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65760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40" name="Shape 38"/>
          <p:cNvSpPr/>
          <p:nvPr/>
        </p:nvSpPr>
        <p:spPr>
          <a:xfrm>
            <a:off x="5806440" y="365760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0" y="365760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42" name="Shape 40"/>
          <p:cNvSpPr/>
          <p:nvPr/>
        </p:nvSpPr>
        <p:spPr>
          <a:xfrm>
            <a:off x="7909560" y="365760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43" name="Shape 41"/>
          <p:cNvSpPr/>
          <p:nvPr/>
        </p:nvSpPr>
        <p:spPr>
          <a:xfrm>
            <a:off x="8961120" y="365760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12680" y="365760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64240" y="365760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46" name="Shape 44"/>
          <p:cNvSpPr/>
          <p:nvPr/>
        </p:nvSpPr>
        <p:spPr>
          <a:xfrm>
            <a:off x="548640" y="475488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47" name="Shape 45"/>
          <p:cNvSpPr/>
          <p:nvPr/>
        </p:nvSpPr>
        <p:spPr>
          <a:xfrm>
            <a:off x="1600200" y="475488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48" name="Shape 46"/>
          <p:cNvSpPr/>
          <p:nvPr/>
        </p:nvSpPr>
        <p:spPr>
          <a:xfrm>
            <a:off x="2651760" y="475488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49" name="Shape 47"/>
          <p:cNvSpPr/>
          <p:nvPr/>
        </p:nvSpPr>
        <p:spPr>
          <a:xfrm>
            <a:off x="3703320" y="475488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50" name="Shape 48"/>
          <p:cNvSpPr/>
          <p:nvPr/>
        </p:nvSpPr>
        <p:spPr>
          <a:xfrm>
            <a:off x="4754880" y="475488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51" name="Shape 49"/>
          <p:cNvSpPr/>
          <p:nvPr/>
        </p:nvSpPr>
        <p:spPr>
          <a:xfrm>
            <a:off x="5806440" y="475488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52" name="Shape 50"/>
          <p:cNvSpPr/>
          <p:nvPr/>
        </p:nvSpPr>
        <p:spPr>
          <a:xfrm>
            <a:off x="6858000" y="475488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53" name="Shape 51"/>
          <p:cNvSpPr/>
          <p:nvPr/>
        </p:nvSpPr>
        <p:spPr>
          <a:xfrm>
            <a:off x="7909560" y="475488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54" name="Shape 52"/>
          <p:cNvSpPr/>
          <p:nvPr/>
        </p:nvSpPr>
        <p:spPr>
          <a:xfrm>
            <a:off x="8961120" y="475488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12680" y="475488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56" name="Shape 54"/>
          <p:cNvSpPr/>
          <p:nvPr/>
        </p:nvSpPr>
        <p:spPr>
          <a:xfrm>
            <a:off x="11064240" y="475488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57" name="Shape 55"/>
          <p:cNvSpPr/>
          <p:nvPr/>
        </p:nvSpPr>
        <p:spPr>
          <a:xfrm>
            <a:off x="548640" y="58521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58" name="Shape 56"/>
          <p:cNvSpPr/>
          <p:nvPr/>
        </p:nvSpPr>
        <p:spPr>
          <a:xfrm>
            <a:off x="1600200" y="58521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59" name="Shape 57"/>
          <p:cNvSpPr/>
          <p:nvPr/>
        </p:nvSpPr>
        <p:spPr>
          <a:xfrm>
            <a:off x="2651760" y="58521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60" name="Shape 58"/>
          <p:cNvSpPr/>
          <p:nvPr/>
        </p:nvSpPr>
        <p:spPr>
          <a:xfrm>
            <a:off x="3703320" y="58521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61" name="Shape 59"/>
          <p:cNvSpPr/>
          <p:nvPr/>
        </p:nvSpPr>
        <p:spPr>
          <a:xfrm>
            <a:off x="4754880" y="58521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62" name="Shape 60"/>
          <p:cNvSpPr/>
          <p:nvPr/>
        </p:nvSpPr>
        <p:spPr>
          <a:xfrm>
            <a:off x="5806440" y="58521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63" name="Shape 61"/>
          <p:cNvSpPr/>
          <p:nvPr/>
        </p:nvSpPr>
        <p:spPr>
          <a:xfrm>
            <a:off x="6858000" y="58521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64" name="Shape 62"/>
          <p:cNvSpPr/>
          <p:nvPr/>
        </p:nvSpPr>
        <p:spPr>
          <a:xfrm>
            <a:off x="7909560" y="58521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65" name="Shape 63"/>
          <p:cNvSpPr/>
          <p:nvPr/>
        </p:nvSpPr>
        <p:spPr>
          <a:xfrm>
            <a:off x="8961120" y="58521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66" name="Shape 64"/>
          <p:cNvSpPr/>
          <p:nvPr/>
        </p:nvSpPr>
        <p:spPr>
          <a:xfrm>
            <a:off x="10012680" y="58521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64240" y="5852160"/>
            <a:ext cx="54864" cy="54864"/>
          </a:xfrm>
          <a:prstGeom prst="ellipse">
            <a:avLst/>
          </a:prstGeom>
          <a:solidFill>
            <a:srgbClr val="1E2F44"/>
          </a:solidFill>
          <a:ln/>
        </p:spPr>
      </p:sp>
      <p:sp>
        <p:nvSpPr>
          <p:cNvPr id="68" name="Shape 66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9" name="Shape 67"/>
          <p:cNvSpPr/>
          <p:nvPr/>
        </p:nvSpPr>
        <p:spPr>
          <a:xfrm>
            <a:off x="0" y="1188720"/>
            <a:ext cx="12161520" cy="64008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3000" dirty="0"/>
          </a:p>
        </p:txBody>
      </p:sp>
      <p:sp>
        <p:nvSpPr>
          <p:cNvPr id="71" name="Text 69"/>
          <p:cNvSpPr/>
          <p:nvPr/>
        </p:nvSpPr>
        <p:spPr>
          <a:xfrm>
            <a:off x="457200" y="731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 · From Raw CSV to Interactive Dashboard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0789920" y="914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E2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6000" dirty="0"/>
          </a:p>
        </p:txBody>
      </p:sp>
      <p:sp>
        <p:nvSpPr>
          <p:cNvPr id="73" name="Shape 71"/>
          <p:cNvSpPr/>
          <p:nvPr/>
        </p:nvSpPr>
        <p:spPr>
          <a:xfrm>
            <a:off x="320040" y="1417320"/>
            <a:ext cx="2788920" cy="516636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20040" y="1417320"/>
            <a:ext cx="2788920" cy="7315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5" name="Shape 73"/>
          <p:cNvSpPr/>
          <p:nvPr/>
        </p:nvSpPr>
        <p:spPr>
          <a:xfrm>
            <a:off x="320040" y="1417320"/>
            <a:ext cx="73152" cy="51663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6" name="Text 74"/>
          <p:cNvSpPr/>
          <p:nvPr/>
        </p:nvSpPr>
        <p:spPr>
          <a:xfrm>
            <a:off x="502920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502920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Aggregate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02920" y="2468880"/>
            <a:ext cx="2377440" cy="36576"/>
          </a:xfrm>
          <a:prstGeom prst="rect">
            <a:avLst/>
          </a:prstGeom>
          <a:solidFill>
            <a:srgbClr val="00B894">
              <a:alpha val="5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21208" y="2724912"/>
            <a:ext cx="146304" cy="14630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80" name="Text 78"/>
          <p:cNvSpPr/>
          <p:nvPr/>
        </p:nvSpPr>
        <p:spPr>
          <a:xfrm>
            <a:off x="740664" y="2633472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revenue by category &amp; month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21208" y="3712464"/>
            <a:ext cx="146304" cy="14630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82" name="Text 80"/>
          <p:cNvSpPr/>
          <p:nvPr/>
        </p:nvSpPr>
        <p:spPr>
          <a:xfrm>
            <a:off x="740664" y="3621024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CTE: multi-step P&amp;L calculation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21208" y="4700016"/>
            <a:ext cx="146304" cy="14630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84" name="Text 82"/>
          <p:cNvSpPr/>
          <p:nvPr/>
        </p:nvSpPr>
        <p:spPr>
          <a:xfrm>
            <a:off x="740664" y="4608576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RANK(), LAG() for growth %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21208" y="5687568"/>
            <a:ext cx="146304" cy="14630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86" name="Text 84"/>
          <p:cNvSpPr/>
          <p:nvPr/>
        </p:nvSpPr>
        <p:spPr>
          <a:xfrm>
            <a:off x="740664" y="559612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Cancellation: COUNT(CASE WHEN)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3264408" y="1417320"/>
            <a:ext cx="2788920" cy="516636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3264408" y="1417320"/>
            <a:ext cx="278892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9" name="Shape 87"/>
          <p:cNvSpPr/>
          <p:nvPr/>
        </p:nvSpPr>
        <p:spPr>
          <a:xfrm>
            <a:off x="3264408" y="1417320"/>
            <a:ext cx="73152" cy="51663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0" name="Text 88"/>
          <p:cNvSpPr/>
          <p:nvPr/>
        </p:nvSpPr>
        <p:spPr>
          <a:xfrm>
            <a:off x="3447288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2200" dirty="0"/>
          </a:p>
        </p:txBody>
      </p:sp>
      <p:sp>
        <p:nvSpPr>
          <p:cNvPr id="91" name="Text 89"/>
          <p:cNvSpPr/>
          <p:nvPr/>
        </p:nvSpPr>
        <p:spPr>
          <a:xfrm>
            <a:off x="3447288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3447288" y="2468880"/>
            <a:ext cx="2377440" cy="36576"/>
          </a:xfrm>
          <a:prstGeom prst="rect">
            <a:avLst/>
          </a:prstGeom>
          <a:solidFill>
            <a:srgbClr val="F0A500">
              <a:alpha val="5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3465576" y="2724912"/>
            <a:ext cx="146304" cy="14630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4" name="Text 92"/>
          <p:cNvSpPr/>
          <p:nvPr/>
        </p:nvSpPr>
        <p:spPr>
          <a:xfrm>
            <a:off x="3685032" y="2633472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orders + products + date tables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465576" y="3712464"/>
            <a:ext cx="146304" cy="14630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6" name="Text 94"/>
          <p:cNvSpPr/>
          <p:nvPr/>
        </p:nvSpPr>
        <p:spPr>
          <a:xfrm>
            <a:off x="3685032" y="3621024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Pivot: category × platform matrix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465576" y="4700016"/>
            <a:ext cx="146304" cy="14630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8" name="Text 96"/>
          <p:cNvSpPr/>
          <p:nvPr/>
        </p:nvSpPr>
        <p:spPr>
          <a:xfrm>
            <a:off x="3685032" y="4608576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Resample: daily orders → weekly trend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3465576" y="5687568"/>
            <a:ext cx="146304" cy="14630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0" name="Text 98"/>
          <p:cNvSpPr/>
          <p:nvPr/>
        </p:nvSpPr>
        <p:spPr>
          <a:xfrm>
            <a:off x="3685032" y="559612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removal on order_value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6208776" y="1417320"/>
            <a:ext cx="2788920" cy="516636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6208776" y="1417320"/>
            <a:ext cx="2788920" cy="7315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208776" y="1417320"/>
            <a:ext cx="73152" cy="51663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4" name="Text 102"/>
          <p:cNvSpPr/>
          <p:nvPr/>
        </p:nvSpPr>
        <p:spPr>
          <a:xfrm>
            <a:off x="6391656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2200" dirty="0"/>
          </a:p>
        </p:txBody>
      </p:sp>
      <p:sp>
        <p:nvSpPr>
          <p:cNvPr id="105" name="Text 103"/>
          <p:cNvSpPr/>
          <p:nvPr/>
        </p:nvSpPr>
        <p:spPr>
          <a:xfrm>
            <a:off x="6391656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Report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391656" y="2468880"/>
            <a:ext cx="2377440" cy="36576"/>
          </a:xfrm>
          <a:prstGeom prst="rect">
            <a:avLst/>
          </a:prstGeom>
          <a:solidFill>
            <a:srgbClr val="00B894">
              <a:alpha val="5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6409944" y="2724912"/>
            <a:ext cx="146304" cy="14630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8" name="Text 106"/>
          <p:cNvSpPr/>
          <p:nvPr/>
        </p:nvSpPr>
        <p:spPr>
          <a:xfrm>
            <a:off x="6629400" y="2633472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 / INDEX-MATCH lookups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6409944" y="3712464"/>
            <a:ext cx="146304" cy="14630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0" name="Text 108"/>
          <p:cNvSpPr/>
          <p:nvPr/>
        </p:nvSpPr>
        <p:spPr>
          <a:xfrm>
            <a:off x="6629400" y="3621024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 per channel + category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6409944" y="4700016"/>
            <a:ext cx="146304" cy="14630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2" name="Text 110"/>
          <p:cNvSpPr/>
          <p:nvPr/>
        </p:nvSpPr>
        <p:spPr>
          <a:xfrm>
            <a:off x="6629400" y="4608576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for KPI bands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6409944" y="5687568"/>
            <a:ext cx="146304" cy="14630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4" name="Text 112"/>
          <p:cNvSpPr/>
          <p:nvPr/>
        </p:nvSpPr>
        <p:spPr>
          <a:xfrm>
            <a:off x="6629400" y="559612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FORECAST.ETS for Q-ahead projection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9153144" y="1417320"/>
            <a:ext cx="2788920" cy="516636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9153144" y="1417320"/>
            <a:ext cx="278892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153144" y="1417320"/>
            <a:ext cx="73152" cy="51663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8" name="Text 116"/>
          <p:cNvSpPr/>
          <p:nvPr/>
        </p:nvSpPr>
        <p:spPr>
          <a:xfrm>
            <a:off x="9336024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2200" dirty="0"/>
          </a:p>
        </p:txBody>
      </p:sp>
      <p:sp>
        <p:nvSpPr>
          <p:cNvPr id="119" name="Text 117"/>
          <p:cNvSpPr/>
          <p:nvPr/>
        </p:nvSpPr>
        <p:spPr>
          <a:xfrm>
            <a:off x="9336024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Publish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9336024" y="2468880"/>
            <a:ext cx="2377440" cy="36576"/>
          </a:xfrm>
          <a:prstGeom prst="rect">
            <a:avLst/>
          </a:prstGeom>
          <a:solidFill>
            <a:srgbClr val="F0A500">
              <a:alpha val="50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9354312" y="2724912"/>
            <a:ext cx="146304" cy="14630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22" name="Text 120"/>
          <p:cNvSpPr/>
          <p:nvPr/>
        </p:nvSpPr>
        <p:spPr>
          <a:xfrm>
            <a:off x="9573768" y="2633472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fact_orders + 3 dims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9354312" y="3712464"/>
            <a:ext cx="146304" cy="14630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24" name="Text 122"/>
          <p:cNvSpPr/>
          <p:nvPr/>
        </p:nvSpPr>
        <p:spPr>
          <a:xfrm>
            <a:off x="9573768" y="3621024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DAX: TotalRev, Margin%, AvgOrder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9354312" y="4700016"/>
            <a:ext cx="146304" cy="14630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26" name="Text 124"/>
          <p:cNvSpPr/>
          <p:nvPr/>
        </p:nvSpPr>
        <p:spPr>
          <a:xfrm>
            <a:off x="9573768" y="4608576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date, category, channel, SKU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9354312" y="5687568"/>
            <a:ext cx="146304" cy="14630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28" name="Text 126"/>
          <p:cNvSpPr/>
          <p:nvPr/>
        </p:nvSpPr>
        <p:spPr>
          <a:xfrm>
            <a:off x="9573768" y="559612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published report pages with drillthrough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30" name="Shape 128"/>
          <p:cNvSpPr/>
          <p:nvPr/>
        </p:nvSpPr>
        <p:spPr>
          <a:xfrm>
            <a:off x="457200" y="6519672"/>
            <a:ext cx="1828800" cy="274320"/>
          </a:xfrm>
          <a:prstGeom prst="rect">
            <a:avLst/>
          </a:prstGeom>
          <a:solidFill>
            <a:srgbClr val="009474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7200" y="6519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CSV / DB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2286000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3" name="Shape 131"/>
          <p:cNvSpPr/>
          <p:nvPr/>
        </p:nvSpPr>
        <p:spPr>
          <a:xfrm>
            <a:off x="2697480" y="6519672"/>
            <a:ext cx="1828800" cy="274320"/>
          </a:xfrm>
          <a:prstGeom prst="rect">
            <a:avLst/>
          </a:prstGeom>
          <a:solidFill>
            <a:srgbClr val="1E2F44"/>
          </a:solidFill>
          <a:ln/>
        </p:spPr>
      </p:sp>
      <p:sp>
        <p:nvSpPr>
          <p:cNvPr id="134" name="Text 132"/>
          <p:cNvSpPr/>
          <p:nvPr/>
        </p:nvSpPr>
        <p:spPr>
          <a:xfrm>
            <a:off x="2697480" y="6519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Extract: SQL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4526280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6" name="Shape 134"/>
          <p:cNvSpPr/>
          <p:nvPr/>
        </p:nvSpPr>
        <p:spPr>
          <a:xfrm>
            <a:off x="4937760" y="6519672"/>
            <a:ext cx="1828800" cy="274320"/>
          </a:xfrm>
          <a:prstGeom prst="rect">
            <a:avLst/>
          </a:prstGeom>
          <a:solidFill>
            <a:srgbClr val="009474"/>
          </a:solidFill>
          <a:ln/>
        </p:spPr>
      </p:sp>
      <p:sp>
        <p:nvSpPr>
          <p:cNvPr id="137" name="Text 135"/>
          <p:cNvSpPr/>
          <p:nvPr/>
        </p:nvSpPr>
        <p:spPr>
          <a:xfrm>
            <a:off x="4937760" y="6519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Pandas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6766560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9" name="Shape 137"/>
          <p:cNvSpPr/>
          <p:nvPr/>
        </p:nvSpPr>
        <p:spPr>
          <a:xfrm>
            <a:off x="7178040" y="6519672"/>
            <a:ext cx="1828800" cy="274320"/>
          </a:xfrm>
          <a:prstGeom prst="rect">
            <a:avLst/>
          </a:prstGeom>
          <a:solidFill>
            <a:srgbClr val="1E2F44"/>
          </a:solidFill>
          <a:ln/>
        </p:spPr>
      </p:sp>
      <p:sp>
        <p:nvSpPr>
          <p:cNvPr id="140" name="Text 138"/>
          <p:cNvSpPr/>
          <p:nvPr/>
        </p:nvSpPr>
        <p:spPr>
          <a:xfrm>
            <a:off x="7178040" y="6519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Excel</a:t>
            </a:r>
            <a:endParaRPr lang="en-US" sz="1000" dirty="0"/>
          </a:p>
        </p:txBody>
      </p:sp>
      <p:sp>
        <p:nvSpPr>
          <p:cNvPr id="141" name="Text 139"/>
          <p:cNvSpPr/>
          <p:nvPr/>
        </p:nvSpPr>
        <p:spPr>
          <a:xfrm>
            <a:off x="9006840" y="6519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2" name="Shape 140"/>
          <p:cNvSpPr/>
          <p:nvPr/>
        </p:nvSpPr>
        <p:spPr>
          <a:xfrm>
            <a:off x="9418320" y="6519672"/>
            <a:ext cx="1828800" cy="274320"/>
          </a:xfrm>
          <a:prstGeom prst="rect">
            <a:avLst/>
          </a:prstGeom>
          <a:solidFill>
            <a:srgbClr val="009474"/>
          </a:solidFill>
          <a:ln/>
        </p:spPr>
      </p:sp>
      <p:sp>
        <p:nvSpPr>
          <p:cNvPr id="143" name="Text 141"/>
          <p:cNvSpPr/>
          <p:nvPr/>
        </p:nvSpPr>
        <p:spPr>
          <a:xfrm>
            <a:off x="9418320" y="6519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Publish: Power BI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0B894">
              <a:alpha val="8000"/>
            </a:srgbClr>
          </a:solidFill>
          <a:ln w="12700">
            <a:solidFill>
              <a:srgbClr val="00B894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F0A500">
              <a:alpha val="7000"/>
            </a:srgbClr>
          </a:solidFill>
          <a:ln w="12700">
            <a:solidFill>
              <a:srgbClr val="F0A50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8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457200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423160"/>
            <a:ext cx="5349240" cy="118872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23160"/>
            <a:ext cx="64008" cy="11887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3288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331720" y="2587752"/>
            <a:ext cx="36576" cy="685800"/>
          </a:xfrm>
          <a:prstGeom prst="rect">
            <a:avLst/>
          </a:prstGeom>
          <a:solidFill>
            <a:srgbClr val="1E2F44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5146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9352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· Amazon · P&amp;L · May2022 · Inventory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5349240" cy="118872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794760"/>
            <a:ext cx="64008" cy="1188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0448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₹15M+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2331720" y="3959352"/>
            <a:ext cx="36576" cy="685800"/>
          </a:xfrm>
          <a:prstGeom prst="rect">
            <a:avLst/>
          </a:prstGeom>
          <a:solidFill>
            <a:srgbClr val="1E2F44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38862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Tracked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43068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alone: ₹15.74M with 25K+ orders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5166360"/>
            <a:ext cx="5349240" cy="118872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166360"/>
            <a:ext cx="64008" cy="1188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27608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2331720" y="5330952"/>
            <a:ext cx="36576" cy="685800"/>
          </a:xfrm>
          <a:prstGeom prst="rect">
            <a:avLst/>
          </a:prstGeom>
          <a:solidFill>
            <a:srgbClr val="1E2F44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52578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FBA Dominance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56784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31% Merchant — key fulfillment insight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2423160"/>
            <a:ext cx="5349240" cy="118872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2423160"/>
            <a:ext cx="64008" cy="1188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53288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8001000" y="2587752"/>
            <a:ext cx="36576" cy="685800"/>
          </a:xfrm>
          <a:prstGeom prst="rect">
            <a:avLst/>
          </a:prstGeom>
          <a:solidFill>
            <a:srgbClr val="1E2F44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25146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SKUs Identified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38160" y="29352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gap analysis from 242K stock items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3794760"/>
            <a:ext cx="5349240" cy="118872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3794760"/>
            <a:ext cx="64008" cy="11887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90448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20yr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8001000" y="3959352"/>
            <a:ext cx="36576" cy="685800"/>
          </a:xfrm>
          <a:prstGeom prst="rect">
            <a:avLst/>
          </a:prstGeom>
          <a:solidFill>
            <a:srgbClr val="1E2F44"/>
          </a:solidFill>
          <a:ln/>
        </p:spPr>
      </p:sp>
      <p:sp>
        <p:nvSpPr>
          <p:cNvPr id="36" name="Text 34"/>
          <p:cNvSpPr/>
          <p:nvPr/>
        </p:nvSpPr>
        <p:spPr>
          <a:xfrm>
            <a:off x="8138160" y="38862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Analyzed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38160" y="43068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revenue trends 2000–2022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0" y="5166360"/>
            <a:ext cx="5349240" cy="118872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0" y="5166360"/>
            <a:ext cx="64008" cy="1188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27608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0.73%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8001000" y="5330952"/>
            <a:ext cx="36576" cy="685800"/>
          </a:xfrm>
          <a:prstGeom prst="rect">
            <a:avLst/>
          </a:prstGeom>
          <a:solidFill>
            <a:srgbClr val="1E2F44"/>
          </a:solidFill>
          <a:ln/>
        </p:spPr>
      </p:sp>
      <p:sp>
        <p:nvSpPr>
          <p:cNvPr id="42" name="Text 40"/>
          <p:cNvSpPr/>
          <p:nvPr/>
        </p:nvSpPr>
        <p:spPr>
          <a:xfrm>
            <a:off x="8138160" y="52578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Margin % (May 2022)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138160" y="56784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Kurta &amp; Kurta Set lead margin across platforms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103120" y="6400800"/>
            <a:ext cx="7955280" cy="384048"/>
          </a:xfrm>
          <a:prstGeom prst="rect">
            <a:avLst/>
          </a:prstGeom>
          <a:solidFill>
            <a:srgbClr val="00B894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103120" y="640994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https://github.com/Nikul14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1012</Words>
  <Application>Microsoft Office PowerPoint</Application>
  <PresentationFormat>Widescreen</PresentationFormat>
  <Paragraphs>235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mesh tembhare</cp:lastModifiedBy>
  <cp:revision>4</cp:revision>
  <dcterms:created xsi:type="dcterms:W3CDTF">2026-05-27T23:41:57Z</dcterms:created>
  <dcterms:modified xsi:type="dcterms:W3CDTF">2026-05-28T08:08:18Z</dcterms:modified>
</cp:coreProperties>
</file>